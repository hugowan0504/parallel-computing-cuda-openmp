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Roboto Mono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00EDCC-0FB4-48B1-8F94-F4B2AD77245F}">
  <a:tblStyle styleId="{7000EDCC-0FB4-48B1-8F94-F4B2AD7724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TSansNarrow-bold.fntdata"/><Relationship Id="rId18" Type="http://schemas.openxmlformats.org/officeDocument/2006/relationships/font" Target="fonts/PTSans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b50fa59f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b50fa59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b50fa59f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b50fa59f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b50fa59f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b50fa59f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b50fa59f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b50fa59f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b50fa59f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b50fa59f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b50fa59f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b50fa59f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b50fa59f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b50fa59f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b50fa59f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b50fa59f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b50fa59f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b50fa59f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b50fa59ff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b50fa59f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556570"/>
            <a:ext cx="7136700" cy="13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22"/>
              <a:t>Simple, Fast, and Practical Concurrent Queue Algorithms</a:t>
            </a:r>
            <a:endParaRPr sz="462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4"/>
              <a:t>Based on Michael and Scott, 1996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Hugo Wan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Why Concurrent Queues Matter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4167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226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00">
                <a:solidFill>
                  <a:srgbClr val="000000"/>
                </a:solidFill>
              </a:rPr>
              <a:t>FIFO queues are widely used in parallel applications and operating systems.</a:t>
            </a:r>
            <a:endParaRPr sz="1700">
              <a:solidFill>
                <a:srgbClr val="000000"/>
              </a:solidFill>
            </a:endParaRPr>
          </a:p>
          <a:p>
            <a:pPr indent="-312261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00">
                <a:solidFill>
                  <a:srgbClr val="000000"/>
                </a:solidFill>
              </a:rPr>
              <a:t>Multiple processes may enqueue and dequeue at the same time.</a:t>
            </a:r>
            <a:endParaRPr sz="1700">
              <a:solidFill>
                <a:srgbClr val="000000"/>
              </a:solidFill>
            </a:endParaRPr>
          </a:p>
          <a:p>
            <a:pPr indent="-312261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00">
                <a:solidFill>
                  <a:srgbClr val="000000"/>
                </a:solidFill>
              </a:rPr>
              <a:t>Concurrent access must be synchronized to avoid corrupted queue state.</a:t>
            </a:r>
            <a:endParaRPr sz="1700">
              <a:solidFill>
                <a:srgbClr val="000000"/>
              </a:solidFill>
            </a:endParaRPr>
          </a:p>
          <a:p>
            <a:pPr indent="-312261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00">
                <a:solidFill>
                  <a:srgbClr val="000000"/>
                </a:solidFill>
              </a:rPr>
              <a:t>A delayed process can hurt performance if the queue relies on blocking synchronization.</a:t>
            </a:r>
            <a:endParaRPr sz="1700">
              <a:solidFill>
                <a:srgbClr val="000000"/>
              </a:solidFill>
            </a:endParaRPr>
          </a:p>
          <a:p>
            <a:pPr indent="-312261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00">
                <a:solidFill>
                  <a:srgbClr val="000000"/>
                </a:solidFill>
              </a:rPr>
              <a:t>The paper studies practical queue designs that are simple, fast, and safe.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674625" y="3699350"/>
            <a:ext cx="3958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Multiple processes can access the same FIFO queue concurrently, so the queue needs synchronization to preserve correctness.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5" name="Google Shape;75;p14" title="Screenshot 2026-05-28 1438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600" y="1822925"/>
            <a:ext cx="4348850" cy="14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locking vs. Non-Blocking Queues 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952500" y="124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{7000EDCC-0FB4-48B1-8F94-F4B2AD77245F}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Queue Design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Main Mechanism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Strength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Limitation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Single-lock queue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One global lock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Very simple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Only one operation can proceed at a time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Two-lock queue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Separate head and tail locks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One enqueue and one dequeue can overlap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Still vulnerable to delayed lock holders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Non-blocking queue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CAS / LL-SC atomic operations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System can keep making progress despite delays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More complex pointer logic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Earlier non-blocking queues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Snapshots or reference counting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Avoid ordinary locks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Higher overhead or memory-management issues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" name="Google Shape;82;p15"/>
          <p:cNvSpPr txBox="1"/>
          <p:nvPr/>
        </p:nvSpPr>
        <p:spPr>
          <a:xfrm>
            <a:off x="1333800" y="4257500"/>
            <a:ext cx="64764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The paper compares blocking and non-blocking queue styles to show why a practical lock-free queue is useful under contention and process delays.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 and the ABA Problem 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266325"/>
            <a:ext cx="41478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non-blocking queue relies on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compare-and-swap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 changes a shared value only if it still matches the expected old value.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allows pointer updates without locks.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CAS-based algorithms must handle the </a:t>
            </a: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ABA problem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paper stores pointers with modification counters to reduce ABA risk.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4554875" y="4051350"/>
            <a:ext cx="40998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Open Sans"/>
                <a:ea typeface="Open Sans"/>
                <a:cs typeface="Open Sans"/>
                <a:sym typeface="Open Sans"/>
              </a:rPr>
              <a:t>CAS enables lock-free pointer updates, but pointer-count pairs are used to reduce the chance that an ABA change is mistaken as no change. </a:t>
            </a:r>
            <a:endParaRPr sz="13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0" name="Google Shape;90;p16" title="Screenshot 2026-05-28 1438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9500" y="793150"/>
            <a:ext cx="4290549" cy="31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Non-Blocking Queue Data Structure 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266325"/>
            <a:ext cx="4511100" cy="35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queue is implemented as a singly linked list.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shared pointer-count pairs.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always points to a dummy node.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first real queue item is stored at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Head-&gt;next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dummy node simplifies empty and single-item queue cases.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2826900" y="4058050"/>
            <a:ext cx="60054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non-blocking queue uses a dummy node at the head of the linked list, so dequeue can advance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"/>
              <a:t> instead of removing a special first node. </a:t>
            </a:r>
            <a:endParaRPr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200" y="1304825"/>
            <a:ext cx="3556331" cy="26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Enqueue Operation: Link First, Then Update Tail 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859725" y="1244150"/>
            <a:ext cx="3945600" cy="29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Enqueue allocates a new node and sets its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pointer to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reads the current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Tail-&gt;next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Tail-&gt;next == NULL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process tries to link the new node using CAS.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successful link is the logical enqueue point.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1200"/>
              </a:spcAft>
              <a:buSzPts val="1300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Updating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afterward is a cleanup step, not the moment the item enters the queue.</a:t>
            </a:r>
            <a:endParaRPr sz="2000"/>
          </a:p>
        </p:txBody>
      </p:sp>
      <p:sp>
        <p:nvSpPr>
          <p:cNvPr id="105" name="Google Shape;105;p18"/>
          <p:cNvSpPr txBox="1"/>
          <p:nvPr/>
        </p:nvSpPr>
        <p:spPr>
          <a:xfrm>
            <a:off x="1564200" y="4340825"/>
            <a:ext cx="60156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Enqueue takes effect when CAS links the new node at the end of the list; moving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en"/>
              <a:t> forward only helps future operations find the end faster. </a:t>
            </a:r>
            <a:endParaRPr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25" y="1152425"/>
            <a:ext cx="4397680" cy="318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Dequeue Operation: Move Head Forward 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4502825" y="1260300"/>
            <a:ext cx="4453800" cy="26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Dequeue reads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Head-&gt;next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 == Tail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Head-&gt;next == NULL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queue is empty.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Otherwise, the value is read from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Head-&gt;next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successful CAS moving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forward is the logical dequeue point.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Afterward, the old dummy node can be freed.</a:t>
            </a:r>
            <a:endParaRPr sz="2100"/>
          </a:p>
        </p:txBody>
      </p:sp>
      <p:sp>
        <p:nvSpPr>
          <p:cNvPr id="113" name="Google Shape;113;p19"/>
          <p:cNvSpPr txBox="1"/>
          <p:nvPr/>
        </p:nvSpPr>
        <p:spPr>
          <a:xfrm>
            <a:off x="2055450" y="4327350"/>
            <a:ext cx="50331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Dequeue returns the value in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Head-&gt;next</a:t>
            </a:r>
            <a:r>
              <a:rPr lang="en"/>
              <a:t>, then advances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n"/>
              <a:t> so the removed node becomes the new dummy node. </a:t>
            </a:r>
            <a:endParaRPr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25"/>
            <a:ext cx="4331323" cy="31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Helping Mechanism and Non-Blocking Progress 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266325"/>
            <a:ext cx="3939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allowed to temporarily lag behind the real last node.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another process sees this, it helps advance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appears in both enqueue and dequeue paths.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failed CAS usually means another process changed the structure first.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why the system as a whole continues making progress.</a:t>
            </a:r>
            <a:endParaRPr sz="2000"/>
          </a:p>
        </p:txBody>
      </p:sp>
      <p:sp>
        <p:nvSpPr>
          <p:cNvPr id="121" name="Google Shape;121;p20"/>
          <p:cNvSpPr txBox="1"/>
          <p:nvPr/>
        </p:nvSpPr>
        <p:spPr>
          <a:xfrm>
            <a:off x="2000250" y="4255750"/>
            <a:ext cx="51435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Tail</a:t>
            </a:r>
            <a:r>
              <a:rPr lang="en"/>
              <a:t> lags behind, other processes can help advance it instead of waiting for the delayed process that created the lag. </a:t>
            </a:r>
            <a:endParaRPr sz="21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7050" y="1152425"/>
            <a:ext cx="3806025" cy="31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Dedicated vs. Multiprogrammed Systems </a:t>
            </a:r>
            <a:endParaRPr/>
          </a:p>
        </p:txBody>
      </p:sp>
      <p:pic>
        <p:nvPicPr>
          <p:cNvPr id="128" name="Google Shape;128;p21" title="Screenshot 2026-05-28 1406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225" y="1637150"/>
            <a:ext cx="2738799" cy="21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 title="Screenshot 2026-05-28 1406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1675" y="2933750"/>
            <a:ext cx="2598276" cy="201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 title="Screenshot 2026-05-28 14065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1600" y="1637138"/>
            <a:ext cx="2961150" cy="225047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401225" y="988125"/>
            <a:ext cx="81192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The performance graphs show that the new non-blocking queue remains the strongest overall result, while blocking algorithms suffer more as multiprogramming increases.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861775" y="3844275"/>
            <a:ext cx="1817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Figure 3:</a:t>
            </a:r>
            <a:r>
              <a:rPr lang="en" sz="1100"/>
              <a:t> </a:t>
            </a:r>
            <a:br>
              <a:rPr lang="en" sz="1100"/>
            </a:br>
            <a:r>
              <a:rPr lang="en" sz="1100"/>
              <a:t>Dedicated multiprocessor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3474250" y="2031400"/>
            <a:ext cx="2114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Figure 4:</a:t>
            </a:r>
            <a:r>
              <a:rPr lang="en" sz="1100"/>
              <a:t> </a:t>
            </a:r>
            <a:br>
              <a:rPr lang="en" sz="1100"/>
            </a:br>
            <a:r>
              <a:rPr lang="en" sz="1100"/>
              <a:t>Multiprogrammed system with 2 processes per processor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6189225" y="3998025"/>
            <a:ext cx="2145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Figure 5:</a:t>
            </a:r>
            <a:r>
              <a:rPr lang="en" sz="1100"/>
              <a:t> </a:t>
            </a:r>
            <a:br>
              <a:rPr lang="en" sz="1100"/>
            </a:br>
            <a:r>
              <a:rPr lang="en" sz="1100"/>
              <a:t>Multiprogrammed system with 3 processes per processor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Dedicated vs. Multiprogrammed Systems </a:t>
            </a:r>
            <a:endParaRPr/>
          </a:p>
        </p:txBody>
      </p:sp>
      <p:graphicFrame>
        <p:nvGraphicFramePr>
          <p:cNvPr id="140" name="Google Shape;140;p22"/>
          <p:cNvGraphicFramePr/>
          <p:nvPr/>
        </p:nvGraphicFramePr>
        <p:xfrm>
          <a:off x="952500" y="157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{7000EDCC-0FB4-48B1-8F94-F4B2AD77245F}</a:tableStyleId>
              </a:tblPr>
              <a:tblGrid>
                <a:gridCol w="1248300"/>
                <a:gridCol w="2290400"/>
                <a:gridCol w="3700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Paper Figure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Setup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Main Observation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Figure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Dedicated processors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New non-blocking queue performs best overall after several processors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Figure 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 processes per processor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Blocking algorithms degrade more under multiprogramming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Figure 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 processes per processor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Non-blocking advantage becomes strongest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1" name="Google Shape;141;p22"/>
          <p:cNvSpPr txBox="1"/>
          <p:nvPr/>
        </p:nvSpPr>
        <p:spPr>
          <a:xfrm>
            <a:off x="1020750" y="3808950"/>
            <a:ext cx="71025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Open Sans"/>
                <a:ea typeface="Open Sans"/>
                <a:cs typeface="Open Sans"/>
                <a:sym typeface="Open Sans"/>
              </a:rPr>
              <a:t>The main trend across Figures 3–5 is that process delays make blocking queues less reliable, while the non-blocking queue remains more stable.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2104350" y="1780450"/>
            <a:ext cx="49353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40"/>
              <a:t>Thank You For Listening!!</a:t>
            </a:r>
            <a:endParaRPr sz="4040"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3333150"/>
            <a:ext cx="6726000" cy="12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Maged M. Michael and Michael L. Scott.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“Simple, Fast, and Practical Non-Blocking and Blocking Concurrent Queue Algorithms.”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Department of Computer Science, University of Rochester.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